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3A6B"/>
                </a:solidFill>
                <a:latin typeface="Arial"/>
              </a:rPr>
              <a:t>Registered Students (Lakh)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 Students (Lakh)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3A6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3A6B"/>
                </a:solidFill>
                <a:latin typeface="Arial"/>
              </a:rPr>
              <a:t>Daily Active Users (Lakh)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Active Users (Lakh)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7</c:v>
                </c:pt>
                <c:pt idx="2">
                  <c:v>14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Platform: Pariksha Mitra — National Free Competitive Exam Coaching Platform. Submitted to Ministry of Education, GoI, August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agenda item briefly. Total presentation: ~20-25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crore+ students spend up to ₹3 lakh per year on private coaching. Quality coaching is concentrated in 6-8 cities. The national pass rate is ~3%. PM Modi has given a direct mandate to solve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Pariksha Mitra has 4 core pillars: AI tutor, recorded videos, live classes, and universal access. It is free, vernacular, and built on government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feature modules. Each solves a specific pain point identified in the PRD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exam categories across 3 phases. Total addressable market: 2.74 crore+ active aspirants.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4-layer architecture: Client → API/Services → Data → Infrastructure. All data on NIC MeghRaj. Full government system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access channels: App, Web, Offline, DD Free Dish TV, SMS. Doordarshan reaches 40 crore viewers — no smartphone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1 targets: 1 crore users, 20 lakh DAU, all 36 states, 12 languages, 4000+ videos, 2000+ live classes, 50,000 exam clearances. ROI: 2,380x.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OKR targets showing growth in registered students and daily active users across 4 quarters.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4-phase delivery over 12 months. Phase 1: Foundation (Months 1-3). Phase 2: Growth (Months 4-6). Phase 3: Scale (Months 7-9). Phase 4: Nationwide (Months 10-12).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models: A (Full Govt Contract - ₹21Cr), B (PPP - ₹2-5Cr/year), C (CSR - ₹0 govt cost). Model A recommended. ROI: 2,380x.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6-document submission suite already prepared. 6 key differentiators vs any competitor. Working demo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clear next steps from proposal to live platform. Full documentation package ready for submission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Key ask: Ministry reviews proposal package and schedules technical discussion with NIC. Full documentation available for immediate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840480"/>
            <a:ext cx="2011680" cy="20116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MITRA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Free Competitive Exam Coaching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26080" y="2468880"/>
            <a:ext cx="329184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Student's Personal AI Coaching Partner"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33756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97280" y="3639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Education, GoI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333756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3639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3337560"/>
            <a:ext cx="2194560" cy="685800"/>
          </a:xfrm>
          <a:prstGeom prst="roundRect">
            <a:avLst>
              <a:gd name="adj" fmla="val 8000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35040" y="3639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GOVERNMENT SUBMISSION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10241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380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 needs this now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947672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39112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8992" y="2011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Pariksha Mitra delivers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35224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26664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26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" y="2999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capabilities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22776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014216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78992" y="39867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343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 for national scale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96012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83480" y="1051560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051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13832" y="10241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Metrics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13832" y="1380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1947672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83480" y="2039112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20391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13832" y="2011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1383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plan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2935224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983480" y="3026664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026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13832" y="29992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Proposal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13832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engagement models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3922776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83480" y="4014216"/>
            <a:ext cx="438912" cy="43891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13832" y="39867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513832" y="4343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credentials &amp;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Why India Needs This Now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1024128"/>
            <a:ext cx="694944" cy="69494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024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₹50K–3L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private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cost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32888" y="9144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45536" y="1024128"/>
            <a:ext cx="694944" cy="69494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1024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78608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78608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where quality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exists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54296" y="9144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66944" y="1024128"/>
            <a:ext cx="694944" cy="6949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1024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0016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Crore+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0016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75704" y="91440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88352" y="1024128"/>
            <a:ext cx="694944" cy="6949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10241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21424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21424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average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pass rate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3401568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Modi announced on 15 August 2026 that the government will create a nationwide FREE online coaching network to eliminate the financial burden on poor and middle-class families. India has the teachers. India has the digital infrastructure. What is missing is the platform that brings them together.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960120"/>
            <a:ext cx="1938528" cy="3154680"/>
          </a:xfrm>
          <a:prstGeom prst="roundRect">
            <a:avLst>
              <a:gd name="adj" fmla="val 3774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14984" y="10972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Tutor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67004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every student's weakness map. Doubt solver in Hindi + English.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32888" y="960120"/>
            <a:ext cx="1938528" cy="3154680"/>
          </a:xfrm>
          <a:prstGeom prst="roundRect">
            <a:avLst>
              <a:gd name="adj" fmla="val 3774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36392" y="109728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639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24328" y="19659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4,000+ Recorded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Lectures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24328" y="267004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videos, shortcut tricks, PYQ solutions by verified teachers.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54296" y="960120"/>
            <a:ext cx="1938528" cy="3154680"/>
          </a:xfrm>
          <a:prstGeom prst="roundRect">
            <a:avLst>
              <a:gd name="adj" fmla="val 3774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57800" y="1097280"/>
            <a:ext cx="731520" cy="73152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45736" y="19659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45736" y="267004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classes with 10L+ concurrent viewers. Auto-recorded.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75704" y="960120"/>
            <a:ext cx="1938528" cy="3154680"/>
          </a:xfrm>
          <a:prstGeom prst="roundRect">
            <a:avLst>
              <a:gd name="adj" fmla="val 3774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79208" y="1097280"/>
            <a:ext cx="731520" cy="7315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79208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67144" y="1965960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67144" y="2670048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₹4,000 phones, 2G networks, and DD Free Dish TV.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VERNACULAR · AI-POWERED · GOVT-INTEGRATED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 — What Students Experience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2412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0241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Assessment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20-question AI test on Day 1 builds personal weakness map &amp; 30-day study plan.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9144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0128" y="102412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024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10241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Video Player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7373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Auto-chapters, subtitle in 12 languages, in-video doubt button, offline download.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91440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2412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024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76288" y="10241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Interactive Classes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63056" y="173736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timetable, raise hand, live polls, Q&amp;A queue, 10 lakh concurrent viewers.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3580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0432" y="303580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Engine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streaks, battle mode, district &amp; national leaderboards, achievement badges.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2926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10128" y="303580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👨‍🏫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023360" y="303580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Network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10128" y="374904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30-min sessions with verified IAS toppers, subject experts, retired officers.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71616" y="2926080"/>
            <a:ext cx="2697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035808"/>
            <a:ext cx="640080" cy="6400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3056" y="3035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76288" y="303580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63056" y="3749040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map of users by state/district. One-click Parliamentary PDF report.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Coverage — National Scale from Day One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109728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87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 CGL / CHSL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35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Lakh+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335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9144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914400"/>
            <a:ext cx="109728" cy="914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987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IBPS PO / Clerk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24912" y="1335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Lakh+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39312" y="1335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18304" y="9144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914400"/>
            <a:ext cx="10972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987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 Prelims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01184" y="1335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Lakh+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15584" y="1335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94576" y="91440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94576" y="914400"/>
            <a:ext cx="10972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7456" y="987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RRB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77456" y="1335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Lakh+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91856" y="1335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19659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1965960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0391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NEET-UG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2386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Lakh+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23865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42032" y="19659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42032" y="1965960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24912" y="20391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Mains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24912" y="2386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Lakh+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39312" y="23865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18304" y="19659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18304" y="1965960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01184" y="20391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PSCs (Top 10)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01184" y="2386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Lakh+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15584" y="23865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94576" y="19659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94576" y="1965960"/>
            <a:ext cx="10972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77456" y="203911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PO / Clerk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77456" y="2386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Lakh+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991856" y="23865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127248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2.74 Crore+ Active Aspirants  |  Covering All Major Central &amp; State Government Exams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— Built for India, on India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32688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23160" y="1033272"/>
            <a:ext cx="18288" cy="384048"/>
          </a:xfrm>
          <a:prstGeom prst="rect">
            <a:avLst/>
          </a:prstGeom>
          <a:solidFill>
            <a:srgbClr val="6B88B8"/>
          </a:solidFill>
          <a:ln w="12700">
            <a:solidFill>
              <a:srgbClr val="6B8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932688"/>
            <a:ext cx="6126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(Android/iOS)  ·  React.js Web (PWA)  ·  DD Free Dish TV  ·  SMS/Feature Phone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2821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SERVICES LAYER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828800"/>
            <a:ext cx="18288" cy="384048"/>
          </a:xfrm>
          <a:prstGeom prst="rect">
            <a:avLst/>
          </a:prstGeom>
          <a:solidFill>
            <a:srgbClr val="6B88B8"/>
          </a:solidFill>
          <a:ln w="12700">
            <a:solidFill>
              <a:srgbClr val="6B88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728216"/>
            <a:ext cx="6126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(Kong)  ·  Auth Service (Aadhaar OTP)  ·  AI Engine (LLaMA 3)  ·  Video Service  ·  Live Streaming (WebRTC + HLS)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2374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2624328"/>
            <a:ext cx="18288" cy="384048"/>
          </a:xfrm>
          <a:prstGeom prst="rect">
            <a:avLst/>
          </a:prstGeom>
          <a:solidFill>
            <a:srgbClr val="6B88B8"/>
          </a:solidFill>
          <a:ln w="12700">
            <a:solidFill>
              <a:srgbClr val="6B88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2523744"/>
            <a:ext cx="6126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(Primary DB)  ·  Redis (Cache)  ·  ClickHouse (Analytics)  ·  Apache Kafka (Events)  ·  Object Storage (Videos)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1927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3419856"/>
            <a:ext cx="18288" cy="384048"/>
          </a:xfrm>
          <a:prstGeom prst="rect">
            <a:avLst/>
          </a:prstGeom>
          <a:solidFill>
            <a:srgbClr val="6B88B8"/>
          </a:solidFill>
          <a:ln w="12700">
            <a:solidFill>
              <a:srgbClr val="6B88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3319272"/>
            <a:ext cx="6126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MeghRaj (India Cloud)  ·  India CDN (4 nodes)  ·  CERT-In Compliant  ·  99.5% Uptime SLA  ·  Data Sovereignty ✓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INTEGRATIONS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/ UIDAI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78308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DIKSHA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1772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MeghRaj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UMANG App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452360" y="4343400"/>
            <a:ext cx="132588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Doordarshan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Access — No Student Left Behind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097280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0624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App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/ iOS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0624" y="2633472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₹4,000 phones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512MB RAM compatible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66544" y="96012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109728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21408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/ Laptop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121408" y="2633472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browser, even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Explorer 11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67328" y="96012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87952" y="1097280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22192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22192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Needed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22192" y="2633472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5 videos/day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WiFi. Watch offline.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68112" y="96012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88736" y="10972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88736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22976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Free Dish TV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22976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Crore Viewers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22976" y="2633472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smartphone? Watch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 on TV.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68896" y="960120"/>
            <a:ext cx="1572768" cy="3017520"/>
          </a:xfrm>
          <a:prstGeom prst="roundRect">
            <a:avLst>
              <a:gd name="adj" fmla="val 4651"/>
            </a:avLst>
          </a:prstGeom>
          <a:solidFill>
            <a:srgbClr val="1E3A7A"/>
          </a:solidFill>
          <a:ln w="12700">
            <a:solidFill>
              <a:srgbClr val="2D4E9E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89520" y="1097280"/>
            <a:ext cx="731520" cy="7315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�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23760" y="1920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Feature Phone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2376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Phone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223760" y="2633472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questions during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class. Get PDF notes.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Doordarshan Simulcast bridges the digital divide — reaching students in villages with no smartphone or internet.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Metrics — Year 1 Targets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Crore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81965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Students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64008" cy="1645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9144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98755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Lakh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81965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Users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914400"/>
            <a:ext cx="64008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9144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98755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17720" y="181965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UTs Covered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64008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9144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98755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181965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 Supported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64008" cy="1645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346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0779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4,000+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20040" y="373989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Video Lectures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83464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68880" y="28346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90779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2468880" y="373989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 per Year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68880" y="2834640"/>
            <a:ext cx="64008" cy="1645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28346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90779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617720" y="373989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Clearing Exams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2834640"/>
            <a:ext cx="64008" cy="1645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83464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907792"/>
            <a:ext cx="19659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 Cr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766560" y="3739896"/>
            <a:ext cx="196596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Family Savings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2834640"/>
            <a:ext cx="64008" cy="1645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727448"/>
            <a:ext cx="8503920" cy="301752"/>
          </a:xfrm>
          <a:prstGeom prst="round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to the Nation: ₹21 Crore platform investment → ₹50,000 Crore annual savings for families = 2,380x return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Trajectory — Quarterly OKR Targets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8686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86868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251960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4251960"/>
            <a:ext cx="64008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427939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25880" y="427939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Retention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514600" y="4251960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14600" y="425196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651760" y="427939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74720" y="427939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NPS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63440" y="4251960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4251960"/>
            <a:ext cx="64008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00600" y="427939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623560" y="427939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Test Completion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812280" y="4251960"/>
            <a:ext cx="199339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812280" y="4251960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49440" y="4279392"/>
            <a:ext cx="822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+2x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7772400" y="427939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Pass Rate vs Avg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12-Month Delivery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359152"/>
            <a:ext cx="8229600" cy="5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96112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9601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4173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77824" y="2221992"/>
            <a:ext cx="274320" cy="2743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6060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6700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registration (Aadhaar OTP)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30723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diagnostic &amp; study plan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4747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SSC + Banking video library (1,000 videos)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38770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Practice engine &amp; basic mock tests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" y="461772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617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10 Lakh registrations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87168" y="896112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054096" y="9601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14173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99232" y="2221992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7168" y="26060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96896" y="26700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class infrastructure (10L concurrent)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96896" y="30723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Gamification: streaks, leaderboard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96896" y="34747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Indian language versions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596896" y="38770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UPSC &amp; Railway content added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0" y="461772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4617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50 Lakh registrations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08576" y="896112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81728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75504" y="9601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81728" y="14173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7–9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20640" y="2221992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08576" y="26060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18304" y="26700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NEET, JEE, State PSC content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18304" y="30723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voice doubt solver in Hindi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18304" y="34747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Ministry national dashboard live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18304" y="38770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Doordarshan simulcast (MoU)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681728" y="461772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4617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 Crore registrations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729984" y="896112"/>
            <a:ext cx="1938528" cy="1280160"/>
          </a:xfrm>
          <a:prstGeom prst="roundRect">
            <a:avLst>
              <a:gd name="adj" fmla="val 5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03136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296912" y="960120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Nationwide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03136" y="14173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10–12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42048" y="2221992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29984" y="2606040"/>
            <a:ext cx="1938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839712" y="267004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36 states fully onboarded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839712" y="30723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language versions complete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839712" y="34747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4,000+ video library complete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39712" y="38770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Annual impact report to Parliament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803136" y="4617720"/>
            <a:ext cx="1792224" cy="29260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03136" y="46177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Impact Report to Parliament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Proposal — Three Engagement Models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5488" y="12984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Govt Contract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 Crore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5488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" y="2907792"/>
            <a:ext cx="2487168" cy="18288"/>
          </a:xfrm>
          <a:prstGeom prst="rect">
            <a:avLst/>
          </a:prstGeom>
          <a:solidFill>
            <a:srgbClr val="2D4E9E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Government owns the platform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Fixed development contract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Annual AMC: ₹3–5 crore/year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revenue risk for govt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18688" y="8686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0128" y="9601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960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28416" y="12984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Partnership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28416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₹2–5 Crore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28416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(Subsidy)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28416" y="2907792"/>
            <a:ext cx="2487168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Builder owns and operates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28416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Govt endorses + promotes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28416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CSR + premium B2B revenue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28416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Lower govt cash outflow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71616" y="868680"/>
            <a:ext cx="2697480" cy="39319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960120"/>
            <a:ext cx="1188720" cy="27432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960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181344" y="12984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+ Endorsement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81344" y="20299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81344" y="25786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81344" y="2907792"/>
            <a:ext cx="2487168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Pure govt endorsement only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81344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Funded via PSU CSR mandates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81344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ONGC, SBI, TCS Foundation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81344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Free for govt; operational risk on builder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919472"/>
            <a:ext cx="8412480" cy="0"/>
          </a:xfrm>
          <a:prstGeom prst="roundRect">
            <a:avLst>
              <a:gd name="adj" fmla="val Infinity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864608"/>
            <a:ext cx="8412480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6460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 crore investment → ₹50,000 crore in annual family savings → 2,380x ROI for the Nation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 — Full Documentation Suite Ready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We've Already Built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73152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3624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v1.0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24912" y="136245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Document — 26 pages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74520"/>
            <a:ext cx="73152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9110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TRD v1.0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24912" y="1911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 Document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73152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45973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v1.0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24912" y="24597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Document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71800"/>
            <a:ext cx="7315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00837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v1.0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24912" y="30083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Document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520440"/>
            <a:ext cx="73152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55701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24912" y="35570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Threat Model — CERT-In Ready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4069080"/>
            <a:ext cx="4160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69080"/>
            <a:ext cx="731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41056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Specification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24912" y="410565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RESTful API Contract v1.0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09160" y="896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Pariksha Mitra Wins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132588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73168" y="13624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66944" y="136245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India's existing infra — no new systems needed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187452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73168" y="19110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66944" y="191109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platform reaching non-smartphone users via Doordarshan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42316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73168" y="24597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266944" y="245973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hosted on Indian servers — zero foreign dependency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297180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73168" y="30083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66944" y="300837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gives Ministry real-time Parliamentary data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352044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773168" y="355701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66944" y="355701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CERT-In, DPDP Act 2023, NeSDA compliant from day one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4069080"/>
            <a:ext cx="404164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73168" y="41056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266944" y="4105656"/>
            <a:ext cx="3401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 ready — not just a proposal, a product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286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— From Proposal to Live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024128"/>
            <a:ext cx="731520" cy="7315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0624" y="18470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Reviews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Package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38528" y="1737360"/>
            <a:ext cx="146304" cy="5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91440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05456" y="1024128"/>
            <a:ext cx="731520" cy="7315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39696" y="18470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39696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1737360"/>
            <a:ext cx="146304" cy="5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3904" y="91440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24528" y="1024128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58768" y="18470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58768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76672" y="1737360"/>
            <a:ext cx="146304" cy="5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22976" y="91440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1024128"/>
            <a:ext cx="731520" cy="7315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77840" y="18470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Registration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Contract Sign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77840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95744" y="1737360"/>
            <a:ext cx="146304" cy="5486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42048" y="914400"/>
            <a:ext cx="1572768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62672" y="1024128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62672" y="10241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96912" y="18470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MVP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Begins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96912" y="2670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→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401568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E8EDF5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Full Documentation Package — Ready for Submission Today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 ·  TRD  ·  SAD  ·  DDD  ·  Security Architecture  ·  API Specification  ·  This Pitch Deck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MITRA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"India has the teachers. India has the infrastructure.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 is the bridge."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2487168"/>
            <a:ext cx="27432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974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Crore Students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Target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47872" y="26974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 Crore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47872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Cost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81344" y="2697480"/>
            <a:ext cx="2286000" cy="1051560"/>
          </a:xfrm>
          <a:prstGeom prst="roundRect">
            <a:avLst>
              <a:gd name="adj" fmla="val 6957"/>
            </a:avLst>
          </a:prstGeom>
          <a:solidFill>
            <a:srgbClr val="1E3A6B"/>
          </a:solidFill>
          <a:ln w="12700">
            <a:solidFill>
              <a:srgbClr val="2D4E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2,380x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81344" y="32461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to Nation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9136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 for every Indian aspirant.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parikshamitra.gov.in  ·  Ministry of Education, Government of India  ·  August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2026-08-19T06:14:05Z</dcterms:created>
  <dcterms:modified xsi:type="dcterms:W3CDTF">2026-08-19T06:14:05Z</dcterms:modified>
</cp:coreProperties>
</file>